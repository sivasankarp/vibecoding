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unnel Sans" pitchFamily="2" charset="0"/>
      <p:regular r:id="rId13"/>
      <p:italic r:id="rId14"/>
    </p:embeddedFont>
    <p:embeddedFont>
      <p:font typeface="Mona Sans Semi Bold" pitchFamily="2" charset="77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8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6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6930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Enterprise Security Guardrail Auditor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6788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compliance enforcement and security posture validation at enterprise scale</a:t>
            </a:r>
            <a:endParaRPr lang="en-US" sz="1100" dirty="0"/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426B2B-3632-A4F7-B4BB-872AAA6E4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226" y="4279900"/>
            <a:ext cx="26543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477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The Compliance Gap Is Growing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543348"/>
            <a:ext cx="2290465" cy="1960438"/>
          </a:xfrm>
          <a:prstGeom prst="roundRect">
            <a:avLst>
              <a:gd name="adj" fmla="val 303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2640" y="1689869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Manual Audits Don't Scale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217837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Security reviews are periodic, inconsistent, and unable to keep pace with continuous cloud deployments across hundreds of accounts.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543348"/>
            <a:ext cx="2290539" cy="1960438"/>
          </a:xfrm>
          <a:prstGeom prst="roundRect">
            <a:avLst>
              <a:gd name="adj" fmla="val 303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74863" y="1689869"/>
            <a:ext cx="17927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Regulatory Exposure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996380"/>
            <a:ext cx="199749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Wolters Kluwer operates under strict mandates — GDPR, SOC 2, ISO 27001. A single misconfiguration can trigger audit failure and regulatory penalties.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645545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2640" y="37920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Alert Fatigue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409857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Security teams are overwhelmed by raw scanner output with no prioritization, context, or automated remediation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17735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443832"/>
            <a:ext cx="3759622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Agentless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integrates directly with cloud provider APIs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Event-driven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triggered on resource creation, modification, or scheduled scan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Extensible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policy packs are modular and version-controlled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Audit-ready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every finding is timestamped, attributed, and exportable</a:t>
            </a:r>
            <a:endParaRPr lang="en-US" sz="850" dirty="0"/>
          </a:p>
        </p:txBody>
      </p:sp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FB337E9-AD6E-B29E-E9A5-4F764100E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700" y="4216944"/>
            <a:ext cx="26543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Engine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3.11 · FastAPI · Celery · Redis (task queue)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PostgreSQL (findings) · Elasticsearch (search) · S3 (report artifacts)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37421"/>
            <a:ext cx="17896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Security Integrations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843933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AWS Security Hub · Azure Defender · CSPM connectors · OPA (Open Policy Agent)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37421"/>
            <a:ext cx="21339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Frontend &amp; Observability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84393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React · Grafana · Prometheus · OpenTelemetry tracing</a:t>
            </a:r>
            <a:endParaRPr lang="en-US" sz="1100" dirty="0"/>
          </a:p>
        </p:txBody>
      </p:sp>
      <p:pic>
        <p:nvPicPr>
          <p:cNvPr id="15" name="Picture 1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5CBCFAA-07FB-5FAF-3918-524BB1164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700" y="4216944"/>
            <a:ext cx="26543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14176"/>
            <a:ext cx="3236268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Security Findings Engine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57" y="819522"/>
            <a:ext cx="6815212" cy="3609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7957" y="3399403"/>
            <a:ext cx="1685049" cy="21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Scan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988131" y="3669947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Cloud API enumeration of resources.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448915" y="1281156"/>
            <a:ext cx="1685049" cy="21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Evaluate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9089" y="1551699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Policy rule matching (CIS/NIST).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73208" y="1281156"/>
            <a:ext cx="1685049" cy="21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Score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73208" y="1551699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Assign risk: Critical/High/Medium/Low.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9782" y="3399520"/>
            <a:ext cx="1685050" cy="21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Report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09782" y="3670064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Deduplicate, enrich, and export findings.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7336" y="4522738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engine evaluates every cloud resource against a versioned policy library. Findings are deduplicated across scans, enriched with asset context, and assigned a composite risk score combining severity, exposure, and regulatory impact.</a:t>
            </a:r>
            <a:endParaRPr lang="en-US" sz="850" dirty="0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ED57066-3182-D711-DDC7-44C3CD9F5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4829324"/>
            <a:ext cx="2654300" cy="251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API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96408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RESTful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230562"/>
            <a:ext cx="3759622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GET /findings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filterable, paginated findings export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POST /scan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trigger on-demand audit scan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GET /compliance/{framework}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framework-specific posture report</a:t>
            </a:r>
            <a:endParaRPr lang="en-US" sz="850" dirty="0"/>
          </a:p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POST /policies</a:t>
            </a: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upload custom guardrail rules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74489" y="3075682"/>
            <a:ext cx="3759622" cy="580355"/>
          </a:xfrm>
          <a:prstGeom prst="roundRect">
            <a:avLst>
              <a:gd name="adj" fmla="val 8176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3241774"/>
            <a:ext cx="141163" cy="1129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574" y="3193852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endpoints are authenticated via OAuth2 with RBAC scopes. Audit logs are immutable and WORM-compliant.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DDF7180-875D-C5B1-3A98-D9CCBF7DF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700" y="4695528"/>
            <a:ext cx="2654300" cy="385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20"/>
            <a:ext cx="43381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Dashboard &amp; Data Model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201266"/>
            <a:ext cx="18435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Schema Entities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564481"/>
            <a:ext cx="2628230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assets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cloud resource inventory (ARN, region, tags)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findings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deduplicated violation records with severity scores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policies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versioned rule definitions (CIS, NIST, custom)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scans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execution metadata, timestamps, status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remediations</a:t>
            </a: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ticket linkage, resolution state, SLA tracking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4158407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Schema supports multi-tenant isolation and point-in-time audit reconstruction.</a:t>
            </a:r>
            <a:endParaRPr lang="en-US" sz="1100" dirty="0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9614108-24E2-74B0-90F2-9DAFB44BD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4739580"/>
            <a:ext cx="2654300" cy="340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3942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CI/CD Pipeline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8" y="835670"/>
            <a:ext cx="6545089" cy="357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2501" y="2511467"/>
            <a:ext cx="15165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Code Commit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92037" y="2488198"/>
            <a:ext cx="15165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Tests &amp; SAST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121287" y="2495649"/>
            <a:ext cx="1516546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Build &amp; Scan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03759" y="4501828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policy change and engine update flows through a gated pipeline. Security scanning is embedded at two stages — SAST on source code and container vulnerability scanning post-build — ensuring no regression reaches production.</a:t>
            </a:r>
            <a:endParaRPr lang="en-US" sz="800" dirty="0"/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7B2011F-B16A-3687-7A24-69FC48DD5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4782888"/>
            <a:ext cx="2654300" cy="297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Demo Walkthrough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6119" y="19977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Trigger Scan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Initiate on-demand audit against a target AWS account via API or UI.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888778"/>
            <a:ext cx="400503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2842" y="19977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Review Findings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2842" y="2304231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 surfaces Critical/High findings with resource context, policy reference, and remediation steps.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119" y="3336727"/>
            <a:ext cx="22841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Export Compliance Report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 ISO 27001 or SOC 2 aligned report — PDF or structured JSON — for auditors.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2842" y="3336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Track Remediation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Findings link to Jira tickets; SLA countdown and resolution status tracked automatically.</a:t>
            </a:r>
            <a:endParaRPr lang="en-US" sz="1100" dirty="0"/>
          </a:p>
        </p:txBody>
      </p:sp>
      <p:pic>
        <p:nvPicPr>
          <p:cNvPr id="19" name="Picture 1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BCCA64F-FCA3-6E59-8F7F-D38A132AD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700" y="4216944"/>
            <a:ext cx="26543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32780"/>
            <a:ext cx="383262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Impact, Learnings &amp; Roadmap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80182" y="858738"/>
            <a:ext cx="2349178" cy="909191"/>
          </a:xfrm>
          <a:prstGeom prst="roundRect">
            <a:avLst>
              <a:gd name="adj" fmla="val 7543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5895" y="858738"/>
            <a:ext cx="57150" cy="909191"/>
          </a:xfrm>
          <a:prstGeom prst="roundRect">
            <a:avLst>
              <a:gd name="adj" fmla="val 76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1437" y="97713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1437" y="1216223"/>
            <a:ext cx="206952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Estimated 70% reduction in manual audit effort. Continuous compliance posture replaces point-in-time reviews.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80182" y="1844353"/>
            <a:ext cx="2349178" cy="909191"/>
          </a:xfrm>
          <a:prstGeom prst="roundRect">
            <a:avLst>
              <a:gd name="adj" fmla="val 7543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5895" y="1844353"/>
            <a:ext cx="57150" cy="909191"/>
          </a:xfrm>
          <a:prstGeom prst="roundRect">
            <a:avLst>
              <a:gd name="adj" fmla="val 76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1437" y="196274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Learnings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1437" y="2201838"/>
            <a:ext cx="206952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Policy-as-code adoption requires stakeholder alignment early. Deduplication logic is critical to avoid alert fatigue.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80182" y="2829967"/>
            <a:ext cx="2349178" cy="909191"/>
          </a:xfrm>
          <a:prstGeom prst="roundRect">
            <a:avLst>
              <a:gd name="adj" fmla="val 7543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5895" y="2829967"/>
            <a:ext cx="57150" cy="909191"/>
          </a:xfrm>
          <a:prstGeom prst="roundRect">
            <a:avLst>
              <a:gd name="adj" fmla="val 76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1437" y="294836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Challenges Faced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1437" y="3187452"/>
            <a:ext cx="206952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Multi-cloud API inconsistency, false-positive tuning, and scaling scan concurrency under rate limits.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80182" y="3815581"/>
            <a:ext cx="2349178" cy="909191"/>
          </a:xfrm>
          <a:prstGeom prst="roundRect">
            <a:avLst>
              <a:gd name="adj" fmla="val 7543"/>
            </a:avLst>
          </a:prstGeom>
          <a:solidFill>
            <a:srgbClr val="181616">
              <a:alpha val="95000"/>
            </a:srgbClr>
          </a:solidFill>
          <a:ln w="14288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5895" y="3815581"/>
            <a:ext cx="57150" cy="909191"/>
          </a:xfrm>
          <a:prstGeom prst="roundRect">
            <a:avLst>
              <a:gd name="adj" fmla="val 765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1437" y="3933974"/>
            <a:ext cx="135188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Future Improvements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1437" y="4173066"/>
            <a:ext cx="206952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AI-assisted remediation suggestions, auto-remediation via Terraform, and GRC platform integration (ServiceNow, Archer).</a:t>
            </a:r>
            <a:endParaRPr lang="en-US" sz="8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023" y="1493937"/>
            <a:ext cx="4580409" cy="2595563"/>
          </a:xfrm>
          <a:prstGeom prst="rect">
            <a:avLst/>
          </a:prstGeom>
        </p:spPr>
      </p:pic>
      <p:pic>
        <p:nvPicPr>
          <p:cNvPr id="20" name="Picture 1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78403AE-FFEC-CD15-B2E5-6B4E27400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4216944"/>
            <a:ext cx="2654300" cy="86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609</Words>
  <Application>Microsoft Macintosh PowerPoint</Application>
  <PresentationFormat>On-screen Show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Mona Sans Semi Bold</vt:lpstr>
      <vt:lpstr>Mona Sans Light</vt:lpstr>
      <vt:lpstr>Funnel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Sivasankar p</cp:lastModifiedBy>
  <cp:revision>10</cp:revision>
  <dcterms:created xsi:type="dcterms:W3CDTF">2026-05-14T15:14:05Z</dcterms:created>
  <dcterms:modified xsi:type="dcterms:W3CDTF">2026-05-14T15:20:17Z</dcterms:modified>
</cp:coreProperties>
</file>